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11" r:id="rId3"/>
    <p:sldId id="312" r:id="rId4"/>
    <p:sldId id="316" r:id="rId5"/>
    <p:sldId id="313" r:id="rId6"/>
    <p:sldId id="314" r:id="rId7"/>
    <p:sldId id="315" r:id="rId8"/>
    <p:sldId id="317" r:id="rId9"/>
    <p:sldId id="290" r:id="rId10"/>
    <p:sldId id="296" r:id="rId11"/>
    <p:sldId id="298" r:id="rId12"/>
    <p:sldId id="299" r:id="rId13"/>
    <p:sldId id="291" r:id="rId14"/>
    <p:sldId id="292" r:id="rId15"/>
    <p:sldId id="293" r:id="rId16"/>
    <p:sldId id="294" r:id="rId17"/>
    <p:sldId id="295" r:id="rId18"/>
    <p:sldId id="297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8" r:id="rId28"/>
    <p:sldId id="309" r:id="rId29"/>
    <p:sldId id="310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g x" initials="cx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0C81"/>
    <a:srgbClr val="2474CF"/>
    <a:srgbClr val="348CD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6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53453-B423-4223-B570-015B194DA8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5EFF4-0811-4F86-B485-A93D736A14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5EFF4-0811-4F86-B485-A93D736A1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8D738-0C06-4407-AAFA-77D549C496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90FE9-9391-477F-B021-89D5FE37E0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0178" y="1610798"/>
            <a:ext cx="10785076" cy="269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dirty="0">
                <a:solidFill>
                  <a:srgbClr val="720C8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A100-GPU</a:t>
            </a:r>
            <a:r>
              <a:rPr lang="zh-CN" altLang="en-US" sz="6000" dirty="0">
                <a:solidFill>
                  <a:srgbClr val="720C8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教学算力资源</a:t>
            </a:r>
            <a:endParaRPr lang="en-US" altLang="zh-CN" sz="6000" dirty="0">
              <a:solidFill>
                <a:srgbClr val="720C8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rgbClr val="2474C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用户须知与使用说明</a:t>
            </a:r>
            <a:endParaRPr lang="zh-CN" altLang="en-US" sz="6000" dirty="0">
              <a:solidFill>
                <a:srgbClr val="2474C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33066" y="6195639"/>
            <a:ext cx="3258934" cy="66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工程教育中心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8374" y="291"/>
            <a:ext cx="6037463" cy="1011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教学算力资源用户须知</a:t>
            </a:r>
            <a:endParaRPr lang="zh-CN" altLang="en-US" sz="4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05" y="1011555"/>
            <a:ext cx="12294870" cy="567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ct val="150000"/>
              </a:lnSpc>
              <a:buAutoNum type="arabicPeriod"/>
            </a:pP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教学算力资源</a:t>
            </a:r>
            <a:r>
              <a:rPr lang="zh-CN" altLang="en-US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免费支持教学</a:t>
            </a: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使用，</a:t>
            </a:r>
            <a:r>
              <a:rPr lang="zh-CN" altLang="en-US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不支持个人</a:t>
            </a:r>
            <a:r>
              <a:rPr lang="en-US" altLang="zh-CN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/</a:t>
            </a:r>
            <a:r>
              <a:rPr lang="zh-CN" altLang="en-US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课题组</a:t>
            </a:r>
            <a:r>
              <a:rPr lang="zh-CN" altLang="en-US" sz="2200" b="1" u="sng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科研</a:t>
            </a:r>
            <a:r>
              <a:rPr lang="zh-CN" altLang="en-US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使用</a:t>
            </a: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；</a:t>
            </a:r>
            <a:endParaRPr lang="en-US" altLang="zh-CN" sz="22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每个学期末，该学期用户将被销户，请用户</a:t>
            </a:r>
            <a:r>
              <a:rPr lang="zh-CN" altLang="en-US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提前做好数据迁移工作</a:t>
            </a: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。如需保存账户运行环境以备后续学期课程使用的，请在期末前提前告知培养处杨老师；</a:t>
            </a:r>
            <a:endParaRPr lang="en-US" altLang="zh-CN" sz="22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若使用过程出现</a:t>
            </a:r>
            <a:r>
              <a:rPr lang="zh-CN" altLang="en-US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系统问题或错误</a:t>
            </a: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，请助教负责维修过程，由助教联系培养处杨老师，</a:t>
            </a:r>
            <a:r>
              <a:rPr lang="zh-CN" altLang="en-US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培养处将报技术人员解决</a:t>
            </a: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；</a:t>
            </a:r>
            <a:endParaRPr lang="zh-CN" altLang="en-US" sz="22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若使用过程中需要安装</a:t>
            </a:r>
            <a:r>
              <a:rPr lang="zh-CN" altLang="en-US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第三方插件或程序</a:t>
            </a: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，请</a:t>
            </a: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联系培养处杨老师，</a:t>
            </a:r>
            <a:r>
              <a:rPr lang="zh-CN" altLang="en-US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若评估合理，由培养处联系工程师辅助安装。</a:t>
            </a:r>
            <a:endParaRPr lang="en-US" altLang="zh-CN" sz="2200" b="1" dirty="0">
              <a:solidFill>
                <a:srgbClr val="FF000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为确保数据安全和知识产权保密，学院及服务器供应商不会备份、储存任何用户数据。</a:t>
            </a:r>
            <a:r>
              <a:rPr lang="zh-CN" altLang="en-US" sz="2200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用户应对自己的作业和数据安全负责，定期备份和整理数据，防止发生数据损坏、丢失和泄密问题</a:t>
            </a: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。</a:t>
            </a:r>
            <a:endParaRPr lang="zh-CN" altLang="en-US" sz="22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培养处杨老师联系方式：电话：</a:t>
            </a:r>
            <a:r>
              <a:rPr lang="en-US" altLang="zh-CN" sz="2200" b="1" dirty="0"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86704251</a:t>
            </a:r>
            <a:r>
              <a:rPr lang="zh-CN" altLang="en-US" sz="2200" b="1" dirty="0"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；邮箱：</a:t>
            </a:r>
            <a:r>
              <a:rPr lang="en-US" altLang="zh-CN" sz="2200" b="1" dirty="0"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yang.shaojian@sz.tsinghua.edu.cn</a:t>
            </a:r>
            <a:endParaRPr lang="en-US" altLang="zh-CN" sz="2200" b="1" dirty="0">
              <a:latin typeface="华文仿宋" panose="02010600040101010101" pitchFamily="2" charset="-122"/>
              <a:ea typeface="华文仿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8374" y="242226"/>
            <a:ext cx="11247321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教学算力资源使用说明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---</a:t>
            </a:r>
            <a:r>
              <a:rPr lang="zh-CN" altLang="en-US" sz="2800" b="1" dirty="0">
                <a:solidFill>
                  <a:srgbClr val="720C8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系统登录网址及作业启动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2474C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6853" y="1943807"/>
            <a:ext cx="10618293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计算资源调用基于作业提交平台web形式</a:t>
            </a: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，请用谷歌浏览器访问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：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http://10.103.9.31:40080/index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如提交作业遇到无法启动的问题，先检查是否超过账户算力资源限制，如未超过仍无法启动，则重新登陆用户再启动（此为清除浏览器缓存），如再启动不了则联系培养处杨老师。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8374" y="242226"/>
            <a:ext cx="11247321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教学算力资源使用说明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---</a:t>
            </a:r>
            <a:r>
              <a:rPr lang="zh-CN" altLang="en-US" sz="2800" b="1" dirty="0">
                <a:solidFill>
                  <a:srgbClr val="720C8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开发环境运行作业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须知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2474C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8400" y="1610747"/>
            <a:ext cx="10417196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由于开发环境均为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Docker(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容器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，所以，用户启动开发环境后，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所有私有开发文件，请保存至该目录下：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"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/private/workspace/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" 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；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在开发环境安装的软件或者系统配置，开发环境不做自行保存。需要用户自行以保存镜像的方式，存储开发环境，此外，开发环境保存后，建议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不要大于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30GB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，否则可能无法拉起；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因开发环境特殊性，用户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应在做好数据归档、备份个人电脑的同时，做好镜像保存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。否则极少数偶发硬件故障、意外断电等其他异常因素将导致开发环境同时被终结，可能导致使用者环境丢失。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8374" y="242226"/>
            <a:ext cx="11933626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教学算力资源使用说明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---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运行作业时如何访问外网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720C8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71688" y="2888485"/>
            <a:ext cx="10417196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pt-BR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echo "nameserver 114.114.114.114"  &gt;&gt; /etc/resolv.conf</a:t>
            </a:r>
            <a:endParaRPr kumimoji="0" lang="pt-BR" altLang="zh-C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pt-BR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echo  "nameserver 8.8.8.8"  &gt;&gt; /etc/resolv.conf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5934" y="1890654"/>
            <a:ext cx="10417196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474C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因清华大学联网安全政策原因，用户每次运行时需加入以下两行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2474C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474C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代码：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2474C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71688" y="4701039"/>
            <a:ext cx="10417196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dirty="0">
                <a:solidFill>
                  <a:srgbClr val="247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特殊说明：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2474C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echo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474C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命令直接就能执行，不需要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2474C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root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474C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提权。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2474C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8374" y="242226"/>
            <a:ext cx="11933626" cy="1688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教学算力资源使用说明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---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更多详细信息请参阅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《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用户使用说明手册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20C81"/>
                </a:solidFill>
                <a:effectLst/>
                <a:uLnTx/>
                <a:uFillTx/>
                <a:latin typeface="+mn-ea"/>
                <a:cs typeface="+mn-cs"/>
              </a:rPr>
              <a:t>》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720C8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7874" y="2356923"/>
            <a:ext cx="8231619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用户使用说明手册地址：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https://www.h3c.com/cn/Service/Document_Software/Document_Center/H3Cloud/Catalog/H3Cloud_YCZXT/AFGXN/Configure/User_Manual/H3C_UM_3.01.XX-19101/?CHID=1064132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8450" y="5234636"/>
            <a:ext cx="8686548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dirty="0">
                <a:solidFill>
                  <a:srgbClr val="247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特殊说明：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2474C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474C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及其他需要访问外网的操作代码，请参照上一页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2474C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998" y="1714758"/>
            <a:ext cx="3043007" cy="5053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0178" y="1610798"/>
            <a:ext cx="10785076" cy="269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dirty="0">
                <a:solidFill>
                  <a:srgbClr val="720C8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A100-GPU</a:t>
            </a:r>
            <a:r>
              <a:rPr lang="zh-CN" altLang="en-US" sz="6000" dirty="0">
                <a:solidFill>
                  <a:srgbClr val="720C8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教学算力资源</a:t>
            </a:r>
            <a:endParaRPr lang="en-US" altLang="zh-CN" sz="6000" dirty="0">
              <a:solidFill>
                <a:srgbClr val="720C8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rgbClr val="2474C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详细使用流程讲解</a:t>
            </a:r>
            <a:endParaRPr lang="zh-CN" altLang="en-US" sz="6000" dirty="0">
              <a:solidFill>
                <a:srgbClr val="2474C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8465" y="1951672"/>
            <a:ext cx="43550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登录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浏览器网址输入</a:t>
            </a:r>
            <a:endParaRPr lang="en-US" altLang="zh-CN"/>
          </a:p>
          <a:p>
            <a:r>
              <a:rPr lang="en-US" altLang="zh-CN"/>
              <a:t>http://10.103.9.31:40080/index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之后输入用户名密码登录即可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7253" y="1951672"/>
            <a:ext cx="6209027" cy="26535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56358" y="329830"/>
            <a:ext cx="821749" cy="690591"/>
            <a:chOff x="741453" y="1961835"/>
            <a:chExt cx="821749" cy="690591"/>
          </a:xfrm>
        </p:grpSpPr>
        <p:sp>
          <p:nvSpPr>
            <p:cNvPr id="5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" name="组合 58"/>
              <p:cNvGrpSpPr/>
              <p:nvPr/>
            </p:nvGrpSpPr>
            <p:grpSpPr>
              <a:xfrm>
                <a:off x="5914149" y="2449556"/>
                <a:ext cx="321734" cy="726331"/>
                <a:chOff x="5914148" y="2469108"/>
                <a:chExt cx="321734" cy="726331"/>
              </a:xfrm>
            </p:grpSpPr>
            <p:sp>
              <p:nvSpPr>
                <p:cNvPr id="10" name="TextBox 20"/>
                <p:cNvSpPr txBox="1"/>
                <p:nvPr/>
              </p:nvSpPr>
              <p:spPr>
                <a:xfrm>
                  <a:off x="5930487" y="2653572"/>
                  <a:ext cx="287867" cy="5418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 dirty="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01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3" name="文本框 12"/>
          <p:cNvSpPr txBox="1"/>
          <p:nvPr/>
        </p:nvSpPr>
        <p:spPr>
          <a:xfrm>
            <a:off x="2125467" y="495674"/>
            <a:ext cx="94421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上传文件</a:t>
            </a:r>
            <a:endParaRPr lang="en-US" altLang="zh-CN" b="1"/>
          </a:p>
          <a:p>
            <a:r>
              <a:rPr lang="zh-CN" altLang="en-US"/>
              <a:t>依次点击“文件管理”，“私有文件”，“创建文件夹”</a:t>
            </a:r>
            <a:endParaRPr lang="en-US" altLang="zh-CN"/>
          </a:p>
          <a:p>
            <a:r>
              <a:rPr lang="zh-CN" altLang="en-US"/>
              <a:t>之后输入文件夹名，点击确定完成文件夹创建。</a:t>
            </a:r>
            <a:endParaRPr lang="en-US" altLang="zh-CN"/>
          </a:p>
          <a:p>
            <a:r>
              <a:rPr lang="zh-CN" altLang="en-US"/>
              <a:t>点击进入该创建的文件夹，点击上传文件按钮上传文件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06" y="1675049"/>
            <a:ext cx="6977705" cy="35950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802" y="1675049"/>
            <a:ext cx="4647723" cy="14224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802" y="3235850"/>
            <a:ext cx="4646992" cy="21058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500016" y="270485"/>
            <a:ext cx="10622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如果需上传文件较多，使用大文件上传功能</a:t>
            </a:r>
            <a:r>
              <a:rPr lang="zh-CN" altLang="en-US"/>
              <a:t>，该功能使用</a:t>
            </a:r>
            <a:r>
              <a:rPr lang="en-US" altLang="zh-CN"/>
              <a:t>FTP</a:t>
            </a:r>
            <a:r>
              <a:rPr lang="zh-CN" altLang="en-US"/>
              <a:t>传输文件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计算平台更新后数据使用明文上传，之前使用</a:t>
            </a:r>
            <a:r>
              <a:rPr lang="en-US" altLang="zh-CN"/>
              <a:t>Windows</a:t>
            </a:r>
            <a:r>
              <a:rPr lang="zh-CN" altLang="en-US"/>
              <a:t>文件管理器上传的方法不再可用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可使用 </a:t>
            </a:r>
            <a:r>
              <a:rPr lang="en-US" altLang="zh-CN" i="1">
                <a:solidFill>
                  <a:srgbClr val="C00000"/>
                </a:solidFill>
                <a:latin typeface="Corbel Light" panose="020B0303020204020204" pitchFamily="34" charset="0"/>
              </a:rPr>
              <a:t>FileZilla Client </a:t>
            </a:r>
            <a:r>
              <a:rPr lang="zh-CN" altLang="en-US"/>
              <a:t>进行数据传输，下载地址：</a:t>
            </a:r>
            <a:r>
              <a:rPr lang="en-US" altLang="zh-CN" i="1">
                <a:solidFill>
                  <a:schemeClr val="accent6">
                    <a:lumMod val="75000"/>
                  </a:schemeClr>
                </a:solidFill>
                <a:latin typeface="Corbel Light" panose="020B0303020204020204" pitchFamily="34" charset="0"/>
              </a:rPr>
              <a:t>https://filezilla-project.org/download.php?show_all=1</a:t>
            </a:r>
            <a:endParaRPr lang="en-US" altLang="zh-CN" i="1">
              <a:solidFill>
                <a:schemeClr val="accent6">
                  <a:lumMod val="75000"/>
                </a:schemeClr>
              </a:solidFill>
              <a:latin typeface="Corbel Light" panose="020B0303020204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9644" y="1344507"/>
            <a:ext cx="5081483" cy="16113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00016" y="1525961"/>
            <a:ext cx="2619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1.</a:t>
            </a:r>
            <a:r>
              <a:rPr lang="en-US" altLang="zh-CN"/>
              <a:t> </a:t>
            </a:r>
            <a:r>
              <a:rPr lang="zh-CN" altLang="en-US"/>
              <a:t>点击大文件上传，</a:t>
            </a:r>
            <a:endParaRPr lang="en-US" altLang="zh-CN"/>
          </a:p>
          <a:p>
            <a:r>
              <a:rPr lang="zh-CN" altLang="en-US"/>
              <a:t>获取</a:t>
            </a:r>
            <a:r>
              <a:rPr lang="en-US" altLang="zh-CN"/>
              <a:t>FTP</a:t>
            </a:r>
            <a:r>
              <a:rPr lang="zh-CN" altLang="en-US"/>
              <a:t>地址及账号密码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046" y="1344507"/>
            <a:ext cx="2812943" cy="161136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00016" y="3106564"/>
            <a:ext cx="226215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2. </a:t>
            </a:r>
            <a:r>
              <a:rPr lang="zh-CN" altLang="en-US"/>
              <a:t>打开</a:t>
            </a:r>
            <a:r>
              <a:rPr lang="en-US" altLang="zh-CN" i="1">
                <a:solidFill>
                  <a:srgbClr val="C00000"/>
                </a:solidFill>
                <a:latin typeface="Corbel Light" panose="020B0303020204020204" pitchFamily="34" charset="0"/>
              </a:rPr>
              <a:t>FileZilla Client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主机：</a:t>
            </a:r>
            <a:r>
              <a:rPr lang="en-US" altLang="zh-CN"/>
              <a:t>FTP</a:t>
            </a:r>
            <a:r>
              <a:rPr lang="zh-CN" altLang="en-US"/>
              <a:t>地址</a:t>
            </a:r>
            <a:endParaRPr lang="en-US" altLang="zh-CN"/>
          </a:p>
          <a:p>
            <a:r>
              <a:rPr lang="zh-CN" altLang="en-US"/>
              <a:t>用户名：登录账号</a:t>
            </a:r>
            <a:endParaRPr lang="en-US" altLang="zh-CN"/>
          </a:p>
          <a:p>
            <a:r>
              <a:rPr lang="zh-CN" altLang="en-US"/>
              <a:t>密码：初始密码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然后点击快速连接</a:t>
            </a:r>
            <a:endParaRPr lang="en-US" altLang="zh-CN"/>
          </a:p>
          <a:p>
            <a:r>
              <a:rPr lang="zh-CN" altLang="en-US"/>
              <a:t>端口会自动获取</a:t>
            </a:r>
            <a:endParaRPr lang="en-US" altLang="zh-CN"/>
          </a:p>
          <a:p>
            <a:r>
              <a:rPr lang="zh-CN" altLang="en-US"/>
              <a:t>连接后会提示不安全</a:t>
            </a:r>
            <a:endParaRPr lang="en-US" altLang="zh-CN"/>
          </a:p>
          <a:p>
            <a:r>
              <a:rPr lang="zh-CN" altLang="en-US"/>
              <a:t>点击确定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643" y="3106564"/>
            <a:ext cx="4305801" cy="34257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294491" y="738988"/>
            <a:ext cx="48858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3. </a:t>
            </a:r>
            <a:r>
              <a:rPr lang="zh-CN" altLang="en-US" dirty="0"/>
              <a:t>连接后双击右侧远程站点内的文件夹，使远程站点方框内的路径为文件需要上传至的目标路径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例如这里需要将文件上传至计算平台上的</a:t>
            </a:r>
            <a:r>
              <a:rPr lang="en-US" altLang="zh-CN" dirty="0" err="1"/>
              <a:t>LinearRegression_CX</a:t>
            </a:r>
            <a:r>
              <a:rPr lang="zh-CN" altLang="en-US" dirty="0"/>
              <a:t>文件夹，需要双击</a:t>
            </a:r>
            <a:r>
              <a:rPr lang="en-US" altLang="zh-CN" dirty="0" err="1"/>
              <a:t>LinearRegression_CX</a:t>
            </a:r>
            <a:r>
              <a:rPr lang="zh-CN" altLang="en-US" dirty="0"/>
              <a:t>文件夹，并使远程站点后的路径为</a:t>
            </a:r>
            <a:r>
              <a:rPr lang="en-US" altLang="zh-CN" dirty="0"/>
              <a:t>/ </a:t>
            </a:r>
            <a:r>
              <a:rPr lang="en-US" altLang="zh-CN" dirty="0" err="1"/>
              <a:t>LinearRegression_CX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457" y="109203"/>
            <a:ext cx="4073791" cy="3241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94491" y="4067528"/>
            <a:ext cx="48858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4. </a:t>
            </a:r>
            <a:r>
              <a:rPr lang="zh-CN" altLang="en-US"/>
              <a:t>从左侧本地站点找到需要上传的文件或文件夹，右键点击出现右键菜单，之后点击上传。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例如这里将</a:t>
            </a:r>
            <a:r>
              <a:rPr lang="en-US" altLang="zh-CN"/>
              <a:t>lenet</a:t>
            </a:r>
            <a:r>
              <a:rPr lang="zh-CN" altLang="en-US"/>
              <a:t>上传至计算平台</a:t>
            </a:r>
            <a:r>
              <a:rPr lang="en-US" altLang="zh-CN"/>
              <a:t>/ LinearRegression_CX</a:t>
            </a:r>
            <a:r>
              <a:rPr lang="zh-CN" altLang="en-US"/>
              <a:t>位置，需要右键点击本地</a:t>
            </a:r>
            <a:r>
              <a:rPr lang="en-US" altLang="zh-CN"/>
              <a:t>lenet</a:t>
            </a:r>
            <a:r>
              <a:rPr lang="zh-CN" altLang="en-US"/>
              <a:t>文件夹，然后点上传即可。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457" y="3437743"/>
            <a:ext cx="4073791" cy="32411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56358" y="655754"/>
            <a:ext cx="821749" cy="690591"/>
            <a:chOff x="741453" y="1961835"/>
            <a:chExt cx="821749" cy="690591"/>
          </a:xfrm>
        </p:grpSpPr>
        <p:sp>
          <p:nvSpPr>
            <p:cNvPr id="5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" name="组合 58"/>
              <p:cNvGrpSpPr/>
              <p:nvPr/>
            </p:nvGrpSpPr>
            <p:grpSpPr>
              <a:xfrm>
                <a:off x="5856575" y="2449556"/>
                <a:ext cx="483039" cy="738461"/>
                <a:chOff x="5856574" y="2469108"/>
                <a:chExt cx="483039" cy="738461"/>
              </a:xfrm>
            </p:grpSpPr>
            <p:sp>
              <p:nvSpPr>
                <p:cNvPr id="10" name="TextBox 20"/>
                <p:cNvSpPr txBox="1"/>
                <p:nvPr/>
              </p:nvSpPr>
              <p:spPr>
                <a:xfrm>
                  <a:off x="5856574" y="2653572"/>
                  <a:ext cx="483039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02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3" name="文本框 12"/>
          <p:cNvSpPr txBox="1"/>
          <p:nvPr/>
        </p:nvSpPr>
        <p:spPr>
          <a:xfrm>
            <a:off x="2125467" y="821598"/>
            <a:ext cx="7529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点击左侧功能区：</a:t>
            </a:r>
            <a:r>
              <a:rPr lang="en-US" altLang="zh-CN"/>
              <a:t>AI</a:t>
            </a:r>
            <a:r>
              <a:rPr lang="zh-CN" altLang="en-US"/>
              <a:t>分区</a:t>
            </a:r>
            <a:r>
              <a:rPr lang="en-US" altLang="zh-CN"/>
              <a:t>/AI</a:t>
            </a:r>
            <a:r>
              <a:rPr lang="zh-CN" altLang="en-US"/>
              <a:t>训练</a:t>
            </a:r>
            <a:r>
              <a:rPr lang="en-US" altLang="zh-CN"/>
              <a:t>/AI</a:t>
            </a:r>
            <a:r>
              <a:rPr lang="zh-CN" altLang="en-US"/>
              <a:t>建模，点击创建工程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073" y="1461423"/>
            <a:ext cx="8295238" cy="41523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56358" y="655754"/>
            <a:ext cx="821749" cy="690591"/>
            <a:chOff x="741453" y="1961835"/>
            <a:chExt cx="821749" cy="690591"/>
          </a:xfrm>
        </p:grpSpPr>
        <p:sp>
          <p:nvSpPr>
            <p:cNvPr id="5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" name="组合 58"/>
              <p:cNvGrpSpPr/>
              <p:nvPr/>
            </p:nvGrpSpPr>
            <p:grpSpPr>
              <a:xfrm>
                <a:off x="5849096" y="2449556"/>
                <a:ext cx="497999" cy="738461"/>
                <a:chOff x="5849095" y="2469108"/>
                <a:chExt cx="497999" cy="738461"/>
              </a:xfrm>
            </p:grpSpPr>
            <p:sp>
              <p:nvSpPr>
                <p:cNvPr id="10" name="TextBox 20"/>
                <p:cNvSpPr txBox="1"/>
                <p:nvPr/>
              </p:nvSpPr>
              <p:spPr>
                <a:xfrm>
                  <a:off x="5849095" y="2653572"/>
                  <a:ext cx="497999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03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3" name="文本框 12"/>
          <p:cNvSpPr txBox="1"/>
          <p:nvPr/>
        </p:nvSpPr>
        <p:spPr>
          <a:xfrm>
            <a:off x="2125467" y="821598"/>
            <a:ext cx="839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输入工程信息，文件目录选择工程文件所在的路径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096" y="1751261"/>
            <a:ext cx="9591807" cy="3355477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56358" y="655754"/>
            <a:ext cx="821749" cy="690591"/>
            <a:chOff x="741453" y="1961835"/>
            <a:chExt cx="821749" cy="690591"/>
          </a:xfrm>
        </p:grpSpPr>
        <p:sp>
          <p:nvSpPr>
            <p:cNvPr id="5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" name="组合 58"/>
              <p:cNvGrpSpPr/>
              <p:nvPr/>
            </p:nvGrpSpPr>
            <p:grpSpPr>
              <a:xfrm>
                <a:off x="5857645" y="2449556"/>
                <a:ext cx="480900" cy="738461"/>
                <a:chOff x="5857644" y="2469108"/>
                <a:chExt cx="480900" cy="738461"/>
              </a:xfrm>
            </p:grpSpPr>
            <p:sp>
              <p:nvSpPr>
                <p:cNvPr id="10" name="TextBox 20"/>
                <p:cNvSpPr txBox="1"/>
                <p:nvPr/>
              </p:nvSpPr>
              <p:spPr>
                <a:xfrm>
                  <a:off x="5857644" y="2653572"/>
                  <a:ext cx="480900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04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3" name="文本框 12"/>
          <p:cNvSpPr txBox="1"/>
          <p:nvPr/>
        </p:nvSpPr>
        <p:spPr>
          <a:xfrm>
            <a:off x="2125467" y="821598"/>
            <a:ext cx="839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创建任务流</a:t>
            </a:r>
            <a:endParaRPr lang="en-US" altLang="zh-CN"/>
          </a:p>
          <a:p>
            <a:r>
              <a:rPr lang="zh-CN" altLang="en-US"/>
              <a:t>点击上一步创建的工程名，点击工程展开后出现的加号，创建任务流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146" y="1900645"/>
            <a:ext cx="6234920" cy="30567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881" y="1900646"/>
            <a:ext cx="5400000" cy="122207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881" y="3237461"/>
            <a:ext cx="5400000" cy="2209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56358" y="655754"/>
            <a:ext cx="821749" cy="690591"/>
            <a:chOff x="741453" y="1961835"/>
            <a:chExt cx="821749" cy="690591"/>
          </a:xfrm>
        </p:grpSpPr>
        <p:sp>
          <p:nvSpPr>
            <p:cNvPr id="5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" name="组合 58"/>
              <p:cNvGrpSpPr/>
              <p:nvPr/>
            </p:nvGrpSpPr>
            <p:grpSpPr>
              <a:xfrm>
                <a:off x="5851232" y="2449556"/>
                <a:ext cx="493724" cy="738461"/>
                <a:chOff x="5851231" y="2469108"/>
                <a:chExt cx="493724" cy="738461"/>
              </a:xfrm>
            </p:grpSpPr>
            <p:sp>
              <p:nvSpPr>
                <p:cNvPr id="10" name="TextBox 20"/>
                <p:cNvSpPr txBox="1"/>
                <p:nvPr/>
              </p:nvSpPr>
              <p:spPr>
                <a:xfrm>
                  <a:off x="5851231" y="2653572"/>
                  <a:ext cx="493724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05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3" name="文本框 12"/>
          <p:cNvSpPr txBox="1"/>
          <p:nvPr/>
        </p:nvSpPr>
        <p:spPr>
          <a:xfrm>
            <a:off x="2125467" y="821598"/>
            <a:ext cx="839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拖拽通用计算节点至建模区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1091"/>
          <a:stretch>
            <a:fillRect/>
          </a:stretch>
        </p:blipFill>
        <p:spPr>
          <a:xfrm>
            <a:off x="2037496" y="1374530"/>
            <a:ext cx="8117007" cy="4113133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56358" y="655754"/>
            <a:ext cx="821749" cy="690591"/>
            <a:chOff x="741453" y="1961835"/>
            <a:chExt cx="821749" cy="690591"/>
          </a:xfrm>
        </p:grpSpPr>
        <p:sp>
          <p:nvSpPr>
            <p:cNvPr id="5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" name="组合 58"/>
              <p:cNvGrpSpPr/>
              <p:nvPr/>
            </p:nvGrpSpPr>
            <p:grpSpPr>
              <a:xfrm>
                <a:off x="5848025" y="2449556"/>
                <a:ext cx="500138" cy="738461"/>
                <a:chOff x="5848024" y="2469108"/>
                <a:chExt cx="500138" cy="738461"/>
              </a:xfrm>
            </p:grpSpPr>
            <p:sp>
              <p:nvSpPr>
                <p:cNvPr id="10" name="TextBox 20"/>
                <p:cNvSpPr txBox="1"/>
                <p:nvPr/>
              </p:nvSpPr>
              <p:spPr>
                <a:xfrm>
                  <a:off x="5848024" y="2653572"/>
                  <a:ext cx="500138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06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3" name="文本框 12"/>
          <p:cNvSpPr txBox="1"/>
          <p:nvPr/>
        </p:nvSpPr>
        <p:spPr>
          <a:xfrm>
            <a:off x="2125467" y="821598"/>
            <a:ext cx="839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设置通用计算参数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273" y="96752"/>
            <a:ext cx="4323901" cy="480372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2643" y="2197621"/>
            <a:ext cx="6824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/>
              <a:t>相当于</a:t>
            </a:r>
            <a:r>
              <a:rPr lang="en-US" altLang="zh-CN"/>
              <a:t>Windows</a:t>
            </a:r>
            <a:r>
              <a:rPr lang="zh-CN" altLang="en-US"/>
              <a:t>命令行当前定位到的目录，根据实际需要选择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523" y="5061141"/>
            <a:ext cx="1714651" cy="140180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3324" y="2879875"/>
            <a:ext cx="669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/>
              <a:t>数据集目录，设置后可用</a:t>
            </a:r>
            <a:r>
              <a:rPr lang="en-US" altLang="zh-CN"/>
              <a:t>${data}</a:t>
            </a:r>
            <a:r>
              <a:rPr lang="zh-CN" altLang="en-US"/>
              <a:t>宏替代数据集路径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403324" y="3562129"/>
            <a:ext cx="669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/>
              <a:t>输出目录，设置后可用</a:t>
            </a:r>
            <a:r>
              <a:rPr lang="en-US" altLang="zh-CN"/>
              <a:t>${output}</a:t>
            </a:r>
            <a:r>
              <a:rPr lang="zh-CN" altLang="en-US"/>
              <a:t>宏替代输出路径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0" y="4244383"/>
            <a:ext cx="7812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/>
              <a:t>命令行指令，相当于在</a:t>
            </a:r>
            <a:r>
              <a:rPr lang="en-US" altLang="zh-CN"/>
              <a:t>Windows</a:t>
            </a:r>
            <a:r>
              <a:rPr lang="zh-CN" altLang="en-US"/>
              <a:t>系统命令行里运行</a:t>
            </a:r>
            <a:r>
              <a:rPr lang="en-US" altLang="zh-CN"/>
              <a:t>Python</a:t>
            </a:r>
            <a:r>
              <a:rPr lang="zh-CN" altLang="en-US"/>
              <a:t>文件输入的命令</a:t>
            </a:r>
            <a:endParaRPr lang="en-US" altLang="zh-CN"/>
          </a:p>
          <a:p>
            <a:pPr algn="r"/>
            <a:r>
              <a:rPr lang="zh-CN" altLang="en-US"/>
              <a:t>运行命令例子见后续 案例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949197" y="5203636"/>
            <a:ext cx="614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/>
              <a:t>镜像选择</a:t>
            </a:r>
            <a:r>
              <a:rPr lang="en-US" altLang="zh-CN"/>
              <a:t>pytorch</a:t>
            </a:r>
            <a:r>
              <a:rPr lang="zh-CN" altLang="en-US"/>
              <a:t>（或根据实际需要选择）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49197" y="5885892"/>
            <a:ext cx="614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/>
              <a:t>计算资源根据实际需要选择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9188386" y="1267836"/>
            <a:ext cx="1980000" cy="250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188386" y="1721914"/>
            <a:ext cx="1980000" cy="250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186739" y="2175992"/>
            <a:ext cx="1980000" cy="250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186739" y="2866862"/>
            <a:ext cx="1980000" cy="7374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186739" y="3766480"/>
            <a:ext cx="1980000" cy="250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186739" y="4295574"/>
            <a:ext cx="1980000" cy="2167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连接符: 肘形 25"/>
          <p:cNvCxnSpPr>
            <a:stCxn id="6" idx="3"/>
            <a:endCxn id="19" idx="1"/>
          </p:cNvCxnSpPr>
          <p:nvPr/>
        </p:nvCxnSpPr>
        <p:spPr>
          <a:xfrm flipV="1">
            <a:off x="7097087" y="1392959"/>
            <a:ext cx="2091299" cy="989328"/>
          </a:xfrm>
          <a:prstGeom prst="bentConnector3">
            <a:avLst>
              <a:gd name="adj1" fmla="val 686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>
            <a:stCxn id="14" idx="3"/>
            <a:endCxn id="20" idx="1"/>
          </p:cNvCxnSpPr>
          <p:nvPr/>
        </p:nvCxnSpPr>
        <p:spPr>
          <a:xfrm flipV="1">
            <a:off x="7097087" y="1847037"/>
            <a:ext cx="2091299" cy="1217504"/>
          </a:xfrm>
          <a:prstGeom prst="bentConnector3">
            <a:avLst>
              <a:gd name="adj1" fmla="val 716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/>
          <p:cNvCxnSpPr>
            <a:stCxn id="15" idx="3"/>
            <a:endCxn id="21" idx="1"/>
          </p:cNvCxnSpPr>
          <p:nvPr/>
        </p:nvCxnSpPr>
        <p:spPr>
          <a:xfrm flipV="1">
            <a:off x="7097087" y="2301115"/>
            <a:ext cx="2089652" cy="1445680"/>
          </a:xfrm>
          <a:prstGeom prst="bentConnector3">
            <a:avLst>
              <a:gd name="adj1" fmla="val 746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/>
          <p:cNvCxnSpPr>
            <a:stCxn id="16" idx="3"/>
            <a:endCxn id="22" idx="1"/>
          </p:cNvCxnSpPr>
          <p:nvPr/>
        </p:nvCxnSpPr>
        <p:spPr>
          <a:xfrm flipV="1">
            <a:off x="7812350" y="3235598"/>
            <a:ext cx="1374389" cy="1331951"/>
          </a:xfrm>
          <a:prstGeom prst="bentConnector3">
            <a:avLst>
              <a:gd name="adj1" fmla="val 6550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/>
          <p:cNvCxnSpPr>
            <a:stCxn id="17" idx="3"/>
            <a:endCxn id="23" idx="1"/>
          </p:cNvCxnSpPr>
          <p:nvPr/>
        </p:nvCxnSpPr>
        <p:spPr>
          <a:xfrm flipV="1">
            <a:off x="7097087" y="3891603"/>
            <a:ext cx="2089652" cy="1496699"/>
          </a:xfrm>
          <a:prstGeom prst="bentConnector3">
            <a:avLst>
              <a:gd name="adj1" fmla="val 801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/>
          <p:cNvCxnSpPr>
            <a:stCxn id="18" idx="3"/>
            <a:endCxn id="24" idx="1"/>
          </p:cNvCxnSpPr>
          <p:nvPr/>
        </p:nvCxnSpPr>
        <p:spPr>
          <a:xfrm flipV="1">
            <a:off x="7097087" y="5379259"/>
            <a:ext cx="2089652" cy="691299"/>
          </a:xfrm>
          <a:prstGeom prst="bentConnector3">
            <a:avLst>
              <a:gd name="adj1" fmla="val 835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56358" y="655754"/>
            <a:ext cx="821749" cy="690591"/>
            <a:chOff x="741453" y="1961835"/>
            <a:chExt cx="821749" cy="690591"/>
          </a:xfrm>
        </p:grpSpPr>
        <p:sp>
          <p:nvSpPr>
            <p:cNvPr id="5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" name="组合 58"/>
              <p:cNvGrpSpPr/>
              <p:nvPr/>
            </p:nvGrpSpPr>
            <p:grpSpPr>
              <a:xfrm>
                <a:off x="5862988" y="2449556"/>
                <a:ext cx="470214" cy="738461"/>
                <a:chOff x="5862987" y="2469108"/>
                <a:chExt cx="470214" cy="738461"/>
              </a:xfrm>
            </p:grpSpPr>
            <p:sp>
              <p:nvSpPr>
                <p:cNvPr id="10" name="TextBox 20"/>
                <p:cNvSpPr txBox="1"/>
                <p:nvPr/>
              </p:nvSpPr>
              <p:spPr>
                <a:xfrm>
                  <a:off x="5862987" y="2653572"/>
                  <a:ext cx="470214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07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3" name="文本框 12"/>
          <p:cNvSpPr txBox="1"/>
          <p:nvPr/>
        </p:nvSpPr>
        <p:spPr>
          <a:xfrm>
            <a:off x="2125467" y="821598"/>
            <a:ext cx="839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开始计算，点击“保存”，及“启动”即可。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43" y="1529000"/>
            <a:ext cx="9885714" cy="3800000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56358" y="655754"/>
            <a:ext cx="821749" cy="690591"/>
            <a:chOff x="741453" y="1961835"/>
            <a:chExt cx="821749" cy="690591"/>
          </a:xfrm>
        </p:grpSpPr>
        <p:sp>
          <p:nvSpPr>
            <p:cNvPr id="5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" name="组合 58"/>
              <p:cNvGrpSpPr/>
              <p:nvPr/>
            </p:nvGrpSpPr>
            <p:grpSpPr>
              <a:xfrm>
                <a:off x="5846957" y="2449556"/>
                <a:ext cx="502274" cy="738461"/>
                <a:chOff x="5846956" y="2469108"/>
                <a:chExt cx="502274" cy="738461"/>
              </a:xfrm>
            </p:grpSpPr>
            <p:sp>
              <p:nvSpPr>
                <p:cNvPr id="10" name="TextBox 20"/>
                <p:cNvSpPr txBox="1"/>
                <p:nvPr/>
              </p:nvSpPr>
              <p:spPr>
                <a:xfrm>
                  <a:off x="5846956" y="2653572"/>
                  <a:ext cx="502274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08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3" name="文本框 12"/>
          <p:cNvSpPr txBox="1"/>
          <p:nvPr/>
        </p:nvSpPr>
        <p:spPr>
          <a:xfrm>
            <a:off x="2125467" y="821598"/>
            <a:ext cx="839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计算完成后，可通过日志</a:t>
            </a:r>
            <a:r>
              <a:rPr lang="en-US" altLang="zh-CN"/>
              <a:t>-</a:t>
            </a:r>
            <a:r>
              <a:rPr lang="zh-CN" altLang="en-US"/>
              <a:t>控制台日志查看输出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5950" y="1285592"/>
            <a:ext cx="6276513" cy="1920118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33268"/>
          <a:stretch>
            <a:fillRect/>
          </a:stretch>
        </p:blipFill>
        <p:spPr>
          <a:xfrm>
            <a:off x="2325950" y="3429000"/>
            <a:ext cx="6276512" cy="2757974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66052" y="872573"/>
            <a:ext cx="5598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>
                <a:solidFill>
                  <a:srgbClr val="00B050"/>
                </a:solidFill>
              </a:rPr>
              <a:t>案例</a:t>
            </a:r>
            <a:r>
              <a:rPr lang="en-US" altLang="zh-CN" sz="3200" i="1">
                <a:solidFill>
                  <a:srgbClr val="00B050"/>
                </a:solidFill>
              </a:rPr>
              <a:t>1</a:t>
            </a:r>
            <a:endParaRPr lang="en-US" altLang="zh-CN" sz="3200" i="1" dirty="0">
              <a:solidFill>
                <a:srgbClr val="00B050"/>
              </a:solidFill>
            </a:endParaRPr>
          </a:p>
          <a:p>
            <a:endParaRPr lang="en-US" altLang="zh-CN" sz="3200" i="1" dirty="0">
              <a:solidFill>
                <a:srgbClr val="00B050"/>
              </a:solidFill>
            </a:endParaRPr>
          </a:p>
          <a:p>
            <a:r>
              <a:rPr lang="zh-CN" altLang="en-US" sz="3200" i="1" dirty="0">
                <a:solidFill>
                  <a:srgbClr val="00B050"/>
                </a:solidFill>
              </a:rPr>
              <a:t>在计算平台</a:t>
            </a:r>
            <a:r>
              <a:rPr lang="zh-CN" altLang="en-US" sz="3200" i="1">
                <a:solidFill>
                  <a:srgbClr val="00B050"/>
                </a:solidFill>
              </a:rPr>
              <a:t>运行 </a:t>
            </a:r>
            <a:r>
              <a:rPr lang="en-US" altLang="zh-CN" sz="3200" i="1">
                <a:solidFill>
                  <a:srgbClr val="00B050"/>
                </a:solidFill>
              </a:rPr>
              <a:t>PointNet</a:t>
            </a:r>
            <a:endParaRPr lang="zh-CN" altLang="en-US" sz="3200" i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323076" y="939722"/>
            <a:ext cx="10768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按前述说明完成文件上传及工程创建至 </a:t>
            </a:r>
            <a:r>
              <a:rPr lang="en-US" altLang="zh-CN"/>
              <a:t>STEP 6</a:t>
            </a:r>
            <a:endParaRPr lang="en-US" altLang="zh-CN"/>
          </a:p>
          <a:p>
            <a:r>
              <a:rPr lang="zh-CN" altLang="en-US"/>
              <a:t>当前目录选择文件 </a:t>
            </a:r>
            <a:r>
              <a:rPr lang="en-US" altLang="zh-CN"/>
              <a:t>train_classification.py </a:t>
            </a:r>
            <a:r>
              <a:rPr lang="zh-CN" altLang="en-US"/>
              <a:t>所在的目录，镜像选择</a:t>
            </a:r>
            <a:r>
              <a:rPr lang="en-US" altLang="zh-CN"/>
              <a:t>pytorch</a:t>
            </a:r>
            <a:r>
              <a:rPr lang="zh-CN" altLang="en-US"/>
              <a:t>，资源参数</a:t>
            </a:r>
            <a:r>
              <a:rPr lang="en-US" altLang="zh-CN"/>
              <a:t>GPU(1),</a:t>
            </a:r>
            <a:r>
              <a:rPr lang="zh-CN" altLang="en-US"/>
              <a:t>内存</a:t>
            </a:r>
            <a:r>
              <a:rPr lang="en-US" altLang="zh-CN"/>
              <a:t>(50),GPU(1)</a:t>
            </a:r>
            <a:endParaRPr lang="en-US" altLang="zh-CN"/>
          </a:p>
          <a:p>
            <a:r>
              <a:rPr lang="zh-CN" altLang="en-US"/>
              <a:t>数据目录，输出目录随意选择，因为不使用宏进行目录替换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95079" y="778961"/>
            <a:ext cx="821749" cy="690591"/>
            <a:chOff x="741453" y="1961835"/>
            <a:chExt cx="821749" cy="690591"/>
          </a:xfrm>
        </p:grpSpPr>
        <p:sp>
          <p:nvSpPr>
            <p:cNvPr id="3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11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" name="组合 58"/>
              <p:cNvGrpSpPr/>
              <p:nvPr/>
            </p:nvGrpSpPr>
            <p:grpSpPr>
              <a:xfrm>
                <a:off x="5914149" y="2449556"/>
                <a:ext cx="321734" cy="726331"/>
                <a:chOff x="5914148" y="2469108"/>
                <a:chExt cx="321734" cy="726331"/>
              </a:xfrm>
            </p:grpSpPr>
            <p:sp>
              <p:nvSpPr>
                <p:cNvPr id="13" name="TextBox 20"/>
                <p:cNvSpPr txBox="1"/>
                <p:nvPr/>
              </p:nvSpPr>
              <p:spPr>
                <a:xfrm>
                  <a:off x="5930487" y="2653572"/>
                  <a:ext cx="287867" cy="5418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 dirty="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01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457" y="1950727"/>
            <a:ext cx="4290496" cy="348221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502" y="2425406"/>
            <a:ext cx="7041346" cy="229751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323077" y="850943"/>
            <a:ext cx="10093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输入运行命令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95079" y="690182"/>
            <a:ext cx="821749" cy="690591"/>
            <a:chOff x="741453" y="1961835"/>
            <a:chExt cx="821749" cy="690591"/>
          </a:xfrm>
        </p:grpSpPr>
        <p:sp>
          <p:nvSpPr>
            <p:cNvPr id="3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11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" name="组合 58"/>
              <p:cNvGrpSpPr/>
              <p:nvPr/>
            </p:nvGrpSpPr>
            <p:grpSpPr>
              <a:xfrm>
                <a:off x="5832901" y="2449556"/>
                <a:ext cx="483039" cy="738461"/>
                <a:chOff x="5832900" y="2469108"/>
                <a:chExt cx="483039" cy="738461"/>
              </a:xfrm>
            </p:grpSpPr>
            <p:sp>
              <p:nvSpPr>
                <p:cNvPr id="13" name="TextBox 20"/>
                <p:cNvSpPr txBox="1"/>
                <p:nvPr/>
              </p:nvSpPr>
              <p:spPr>
                <a:xfrm>
                  <a:off x="5832900" y="2653572"/>
                  <a:ext cx="483039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02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4" name="文本框 3"/>
          <p:cNvSpPr txBox="1"/>
          <p:nvPr/>
        </p:nvSpPr>
        <p:spPr>
          <a:xfrm>
            <a:off x="740374" y="1464753"/>
            <a:ext cx="445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输入</a:t>
            </a:r>
            <a:r>
              <a:rPr lang="en-US" altLang="zh-CN"/>
              <a:t>pip list</a:t>
            </a:r>
            <a:r>
              <a:rPr lang="zh-CN" altLang="en-US"/>
              <a:t>，查看哪些包当前镜像里没有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374" y="2017682"/>
            <a:ext cx="5050261" cy="28169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020" y="2011385"/>
            <a:ext cx="5178101" cy="28169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67020" y="1464753"/>
            <a:ext cx="375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依次点击保存、启动，执行命令行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323077" y="850943"/>
            <a:ext cx="10093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输入运行命令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395079" y="690182"/>
            <a:ext cx="821749" cy="690591"/>
            <a:chOff x="741453" y="1961835"/>
            <a:chExt cx="821749" cy="690591"/>
          </a:xfrm>
        </p:grpSpPr>
        <p:sp>
          <p:nvSpPr>
            <p:cNvPr id="16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1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9" name="组合 58"/>
              <p:cNvGrpSpPr/>
              <p:nvPr/>
            </p:nvGrpSpPr>
            <p:grpSpPr>
              <a:xfrm>
                <a:off x="5832901" y="2449556"/>
                <a:ext cx="483039" cy="738461"/>
                <a:chOff x="5832900" y="2469108"/>
                <a:chExt cx="483039" cy="738461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5832900" y="2653572"/>
                  <a:ext cx="483039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02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3" name="文本框 22"/>
          <p:cNvSpPr txBox="1"/>
          <p:nvPr/>
        </p:nvSpPr>
        <p:spPr>
          <a:xfrm>
            <a:off x="940794" y="1486478"/>
            <a:ext cx="1019784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通过日志查看控制台输出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通过对比可知如下包没有，需要离线安装（</a:t>
            </a:r>
            <a:r>
              <a:rPr lang="en-US" altLang="zh-CN"/>
              <a:t>https://pypi.org/</a:t>
            </a:r>
            <a:r>
              <a:rPr lang="zh-CN" altLang="en-US"/>
              <a:t>，下载</a:t>
            </a:r>
            <a:r>
              <a:rPr lang="en-US" altLang="zh-CN"/>
              <a:t>whl</a:t>
            </a:r>
            <a:r>
              <a:rPr lang="zh-CN" altLang="en-US"/>
              <a:t>格式安装包）</a:t>
            </a:r>
            <a:endParaRPr lang="en-US" altLang="zh-CN"/>
          </a:p>
          <a:p>
            <a:r>
              <a:rPr lang="en-US" altLang="zh-CN" sz="2400" b="1" i="1">
                <a:solidFill>
                  <a:srgbClr val="00B0F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plyfile</a:t>
            </a:r>
            <a:endParaRPr lang="en-US" altLang="zh-CN" sz="2400" b="1" i="1" dirty="0">
              <a:solidFill>
                <a:srgbClr val="00B0F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687" y="2832781"/>
            <a:ext cx="5517008" cy="25996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24" y="2429127"/>
            <a:ext cx="4608070" cy="39139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323077" y="850943"/>
            <a:ext cx="10093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输入运行命令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395079" y="690182"/>
            <a:ext cx="821749" cy="690591"/>
            <a:chOff x="741453" y="1961835"/>
            <a:chExt cx="821749" cy="690591"/>
          </a:xfrm>
        </p:grpSpPr>
        <p:sp>
          <p:nvSpPr>
            <p:cNvPr id="16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1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9" name="组合 58"/>
              <p:cNvGrpSpPr/>
              <p:nvPr/>
            </p:nvGrpSpPr>
            <p:grpSpPr>
              <a:xfrm>
                <a:off x="5832901" y="2449556"/>
                <a:ext cx="483039" cy="738461"/>
                <a:chOff x="5832900" y="2469108"/>
                <a:chExt cx="483039" cy="738461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5832900" y="2653572"/>
                  <a:ext cx="483039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02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3" name="文本框 2"/>
          <p:cNvSpPr txBox="1"/>
          <p:nvPr/>
        </p:nvSpPr>
        <p:spPr>
          <a:xfrm>
            <a:off x="1413768" y="1424198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下载 </a:t>
            </a:r>
            <a:r>
              <a:rPr lang="en-US" altLang="zh-CN" sz="2400" b="1" i="1">
                <a:latin typeface="Calibri Light" panose="020F0302020204030204" pitchFamily="34" charset="0"/>
                <a:cs typeface="Calibri Light" panose="020F0302020204030204" pitchFamily="34" charset="0"/>
              </a:rPr>
              <a:t>plyfile </a:t>
            </a:r>
            <a:r>
              <a:rPr lang="zh-CN" altLang="en-US"/>
              <a:t>后上传到文件系统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l="27459" t="15292"/>
          <a:stretch>
            <a:fillRect/>
          </a:stretch>
        </p:blipFill>
        <p:spPr>
          <a:xfrm>
            <a:off x="2512380" y="1961964"/>
            <a:ext cx="5529037" cy="324989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60450" y="4518734"/>
            <a:ext cx="2317072" cy="3284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323077" y="850943"/>
            <a:ext cx="10093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输入运行命令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395079" y="690182"/>
            <a:ext cx="821749" cy="690591"/>
            <a:chOff x="741453" y="1961835"/>
            <a:chExt cx="821749" cy="690591"/>
          </a:xfrm>
        </p:grpSpPr>
        <p:sp>
          <p:nvSpPr>
            <p:cNvPr id="16" name="任意多边形 40"/>
            <p:cNvSpPr/>
            <p:nvPr/>
          </p:nvSpPr>
          <p:spPr>
            <a:xfrm rot="18900000" flipH="1">
              <a:off x="1334528" y="2192795"/>
              <a:ext cx="228674" cy="228674"/>
            </a:xfrm>
            <a:custGeom>
              <a:avLst/>
              <a:gdLst>
                <a:gd name="connsiteX0" fmla="*/ 0 w 304899"/>
                <a:gd name="connsiteY0" fmla="*/ 0 h 304899"/>
                <a:gd name="connsiteX1" fmla="*/ 3059 w 304899"/>
                <a:gd name="connsiteY1" fmla="*/ 10322 h 304899"/>
                <a:gd name="connsiteX2" fmla="*/ 119391 w 304899"/>
                <a:gd name="connsiteY2" fmla="*/ 185508 h 304899"/>
                <a:gd name="connsiteX3" fmla="*/ 294577 w 304899"/>
                <a:gd name="connsiteY3" fmla="*/ 301840 h 304899"/>
                <a:gd name="connsiteX4" fmla="*/ 304899 w 304899"/>
                <a:gd name="connsiteY4" fmla="*/ 304899 h 304899"/>
                <a:gd name="connsiteX5" fmla="*/ 0 w 304899"/>
                <a:gd name="connsiteY5" fmla="*/ 304899 h 3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99" h="304899">
                  <a:moveTo>
                    <a:pt x="0" y="0"/>
                  </a:moveTo>
                  <a:lnTo>
                    <a:pt x="3059" y="10322"/>
                  </a:lnTo>
                  <a:cubicBezTo>
                    <a:pt x="28910" y="74072"/>
                    <a:pt x="67688" y="133805"/>
                    <a:pt x="119391" y="185508"/>
                  </a:cubicBezTo>
                  <a:cubicBezTo>
                    <a:pt x="171094" y="237211"/>
                    <a:pt x="230827" y="275989"/>
                    <a:pt x="294577" y="301840"/>
                  </a:cubicBezTo>
                  <a:lnTo>
                    <a:pt x="304899" y="304899"/>
                  </a:lnTo>
                  <a:lnTo>
                    <a:pt x="0" y="304899"/>
                  </a:lnTo>
                  <a:close/>
                </a:path>
              </a:pathLst>
            </a:custGeom>
            <a:solidFill>
              <a:srgbClr val="7B43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6" tIns="34289" rIns="68576" bIns="34289"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87"/>
            <p:cNvGrpSpPr/>
            <p:nvPr/>
          </p:nvGrpSpPr>
          <p:grpSpPr>
            <a:xfrm>
              <a:off x="741453" y="1961835"/>
              <a:ext cx="690591" cy="690591"/>
              <a:chOff x="5613944" y="2348233"/>
              <a:chExt cx="920788" cy="920788"/>
            </a:xfrm>
          </p:grpSpPr>
          <p:sp>
            <p:nvSpPr>
              <p:cNvPr id="18" name="椭圆 41"/>
              <p:cNvSpPr/>
              <p:nvPr/>
            </p:nvSpPr>
            <p:spPr>
              <a:xfrm flipH="1">
                <a:off x="5613944" y="2348233"/>
                <a:ext cx="920788" cy="920788"/>
              </a:xfrm>
              <a:prstGeom prst="ellipse">
                <a:avLst/>
              </a:pr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9" name="组合 58"/>
              <p:cNvGrpSpPr/>
              <p:nvPr/>
            </p:nvGrpSpPr>
            <p:grpSpPr>
              <a:xfrm>
                <a:off x="5832901" y="2449556"/>
                <a:ext cx="483039" cy="738461"/>
                <a:chOff x="5832900" y="2469108"/>
                <a:chExt cx="483039" cy="738461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5832900" y="2653572"/>
                  <a:ext cx="483039" cy="553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2700" spc="30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  <a:sym typeface="+mn-ea"/>
                    </a:rPr>
                    <a:t>02</a:t>
                  </a:r>
                  <a:endParaRPr lang="zh-CN" altLang="en-US" sz="2700" dirty="0">
                    <a:solidFill>
                      <a:schemeClr val="bg1">
                        <a:lumMod val="95000"/>
                      </a:schemeClr>
                    </a:solidFill>
                    <a:latin typeface="Agency FB" panose="020B0503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5914148" y="2469108"/>
                  <a:ext cx="321734" cy="2201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</a:t>
                  </a:r>
                  <a:endParaRPr lang="zh-CN" altLang="en-US" sz="1100" dirty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3" name="文本框 2"/>
          <p:cNvSpPr txBox="1"/>
          <p:nvPr/>
        </p:nvSpPr>
        <p:spPr>
          <a:xfrm>
            <a:off x="255682" y="1848542"/>
            <a:ext cx="51952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输入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</a:rPr>
              <a:t>运行命令</a:t>
            </a:r>
            <a:r>
              <a:rPr lang="zh-CN" altLang="en-US"/>
              <a:t>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cd /private/PointNet-CX/pointnet.pytorch-master/packge &amp;&amp; pip install plyfile-0.9-py3-none-any.whl &amp;&amp; cd /private/PointNet-CX/pointnet.pytorch-master &amp;&amp; pip install -e . &amp;&amp; cd /private/PointNet-CX/pointnet.pytorch-master/utils &amp;&amp; python train_classification.py --dataset=/private/PointNet-CX/pointnet.pytorch-master/data/shapenetcore_partanno_segmentation_benchmark_v0 --nepoch=5 --dataset_type=shapenet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0855" y="2067690"/>
            <a:ext cx="6355463" cy="272261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60457" y="382221"/>
            <a:ext cx="2783127" cy="690591"/>
            <a:chOff x="395079" y="707936"/>
            <a:chExt cx="2783127" cy="690591"/>
          </a:xfrm>
        </p:grpSpPr>
        <p:grpSp>
          <p:nvGrpSpPr>
            <p:cNvPr id="5" name="组合 4"/>
            <p:cNvGrpSpPr/>
            <p:nvPr/>
          </p:nvGrpSpPr>
          <p:grpSpPr>
            <a:xfrm>
              <a:off x="395079" y="707936"/>
              <a:ext cx="821749" cy="690591"/>
              <a:chOff x="741453" y="1961835"/>
              <a:chExt cx="821749" cy="690591"/>
            </a:xfrm>
          </p:grpSpPr>
          <p:sp>
            <p:nvSpPr>
              <p:cNvPr id="7" name="任意多边形 40"/>
              <p:cNvSpPr/>
              <p:nvPr/>
            </p:nvSpPr>
            <p:spPr>
              <a:xfrm rot="18900000" flipH="1">
                <a:off x="1334528" y="2192795"/>
                <a:ext cx="228674" cy="228674"/>
              </a:xfrm>
              <a:custGeom>
                <a:avLst/>
                <a:gdLst>
                  <a:gd name="connsiteX0" fmla="*/ 0 w 304899"/>
                  <a:gd name="connsiteY0" fmla="*/ 0 h 304899"/>
                  <a:gd name="connsiteX1" fmla="*/ 3059 w 304899"/>
                  <a:gd name="connsiteY1" fmla="*/ 10322 h 304899"/>
                  <a:gd name="connsiteX2" fmla="*/ 119391 w 304899"/>
                  <a:gd name="connsiteY2" fmla="*/ 185508 h 304899"/>
                  <a:gd name="connsiteX3" fmla="*/ 294577 w 304899"/>
                  <a:gd name="connsiteY3" fmla="*/ 301840 h 304899"/>
                  <a:gd name="connsiteX4" fmla="*/ 304899 w 304899"/>
                  <a:gd name="connsiteY4" fmla="*/ 304899 h 304899"/>
                  <a:gd name="connsiteX5" fmla="*/ 0 w 304899"/>
                  <a:gd name="connsiteY5" fmla="*/ 304899 h 30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4899" h="304899">
                    <a:moveTo>
                      <a:pt x="0" y="0"/>
                    </a:moveTo>
                    <a:lnTo>
                      <a:pt x="3059" y="10322"/>
                    </a:lnTo>
                    <a:cubicBezTo>
                      <a:pt x="28910" y="74072"/>
                      <a:pt x="67688" y="133805"/>
                      <a:pt x="119391" y="185508"/>
                    </a:cubicBezTo>
                    <a:cubicBezTo>
                      <a:pt x="171094" y="237211"/>
                      <a:pt x="230827" y="275989"/>
                      <a:pt x="294577" y="301840"/>
                    </a:cubicBezTo>
                    <a:lnTo>
                      <a:pt x="304899" y="304899"/>
                    </a:lnTo>
                    <a:lnTo>
                      <a:pt x="0" y="304899"/>
                    </a:lnTo>
                    <a:close/>
                  </a:path>
                </a:pathLst>
              </a:cu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6" tIns="34289" rIns="68576" bIns="34289"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87"/>
              <p:cNvGrpSpPr/>
              <p:nvPr/>
            </p:nvGrpSpPr>
            <p:grpSpPr>
              <a:xfrm>
                <a:off x="741453" y="1961835"/>
                <a:ext cx="690591" cy="690591"/>
                <a:chOff x="5613944" y="2348233"/>
                <a:chExt cx="920788" cy="920788"/>
              </a:xfrm>
            </p:grpSpPr>
            <p:sp>
              <p:nvSpPr>
                <p:cNvPr id="9" name="椭圆 41"/>
                <p:cNvSpPr/>
                <p:nvPr/>
              </p:nvSpPr>
              <p:spPr>
                <a:xfrm flipH="1">
                  <a:off x="5613944" y="2348233"/>
                  <a:ext cx="920788" cy="920788"/>
                </a:xfrm>
                <a:prstGeom prst="ellipse">
                  <a:avLst/>
                </a:prstGeom>
                <a:solidFill>
                  <a:srgbClr val="7B43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0" name="组合 58"/>
                <p:cNvGrpSpPr/>
                <p:nvPr/>
              </p:nvGrpSpPr>
              <p:grpSpPr>
                <a:xfrm>
                  <a:off x="5832901" y="2449556"/>
                  <a:ext cx="483039" cy="738461"/>
                  <a:chOff x="5832900" y="2469108"/>
                  <a:chExt cx="483039" cy="738461"/>
                </a:xfrm>
              </p:grpSpPr>
              <p:sp>
                <p:nvSpPr>
                  <p:cNvPr id="11" name="TextBox 20"/>
                  <p:cNvSpPr txBox="1"/>
                  <p:nvPr/>
                </p:nvSpPr>
                <p:spPr>
                  <a:xfrm>
                    <a:off x="5832900" y="2653572"/>
                    <a:ext cx="483039" cy="5539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altLang="zh-CN" sz="2700" spc="300">
                        <a:solidFill>
                          <a:schemeClr val="bg1">
                            <a:lumMod val="95000"/>
                          </a:schemeClr>
                        </a:solidFill>
                        <a:latin typeface="Agency FB" panose="020B0503020202020204" pitchFamily="34" charset="0"/>
                        <a:ea typeface="微软雅黑" panose="020B0503020204020204" pitchFamily="34" charset="-122"/>
                        <a:sym typeface="+mn-ea"/>
                      </a:rPr>
                      <a:t>02</a:t>
                    </a:r>
                    <a:endParaRPr lang="zh-CN" altLang="en-US" sz="2700" dirty="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" name="TextBox 20"/>
                  <p:cNvSpPr txBox="1"/>
                  <p:nvPr/>
                </p:nvSpPr>
                <p:spPr>
                  <a:xfrm>
                    <a:off x="5914148" y="2469108"/>
                    <a:ext cx="321734" cy="22013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altLang="zh-CN" sz="11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step</a:t>
                    </a:r>
                    <a:endParaRPr lang="zh-CN" altLang="en-US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6" name="文本框 5"/>
            <p:cNvSpPr txBox="1"/>
            <p:nvPr/>
          </p:nvSpPr>
          <p:spPr>
            <a:xfrm>
              <a:off x="1323078" y="868697"/>
              <a:ext cx="1855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输入运行命令</a:t>
              </a:r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00643" y="1287152"/>
            <a:ext cx="81958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2">
                    <a:lumMod val="75000"/>
                  </a:schemeClr>
                </a:solidFill>
              </a:rPr>
              <a:t>运行命令</a:t>
            </a:r>
            <a:r>
              <a:rPr lang="zh-CN" altLang="en-US"/>
              <a:t>含义：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cd /private/PointNet-CX/pointnet.pytorch-master/packge </a:t>
            </a:r>
            <a:r>
              <a:rPr lang="en-US" altLang="zh-CN"/>
              <a:t>&amp;&amp; 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olidFill>
                  <a:srgbClr val="7030A0"/>
                </a:solidFill>
              </a:rPr>
              <a:t>pip install plyfile-0.9-py3-none-any.whl </a:t>
            </a:r>
            <a:r>
              <a:rPr lang="en-US" altLang="zh-CN"/>
              <a:t>&amp;&amp; 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olidFill>
                  <a:srgbClr val="FFC000"/>
                </a:solidFill>
              </a:rPr>
              <a:t>cd /private/PointNet-CX/pointnet.pytorch-master </a:t>
            </a:r>
            <a:r>
              <a:rPr lang="en-US" altLang="zh-CN"/>
              <a:t>&amp;&amp; 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olidFill>
                  <a:srgbClr val="92D050"/>
                </a:solidFill>
              </a:rPr>
              <a:t>pip install -e . </a:t>
            </a:r>
            <a:r>
              <a:rPr lang="en-US" altLang="zh-CN"/>
              <a:t>&amp;&amp; 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olidFill>
                  <a:srgbClr val="00B050"/>
                </a:solidFill>
              </a:rPr>
              <a:t>cd /private/PointNet-CX/pointnet.pytorch-master/utils </a:t>
            </a:r>
            <a:r>
              <a:rPr lang="en-US" altLang="zh-CN"/>
              <a:t>&amp;&amp; 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olidFill>
                  <a:srgbClr val="00B0F0"/>
                </a:solidFill>
              </a:rPr>
              <a:t>python train_classification.py --dataset=/private/PointNet-CX/pointnet.pytorch-master/data/shapenetcore_partanno_segmentation_benchmark_v0 --nepoch=5 --dataset_type=shapenet</a:t>
            </a:r>
            <a:endParaRPr lang="en-US" altLang="zh-CN" dirty="0">
              <a:solidFill>
                <a:srgbClr val="00B0F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76408" y="1287152"/>
            <a:ext cx="352620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/private</a:t>
            </a:r>
            <a:r>
              <a:rPr lang="zh-CN" altLang="en-US"/>
              <a:t>为根目录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切换到</a:t>
            </a:r>
            <a:r>
              <a:rPr lang="en-US" altLang="zh-CN">
                <a:solidFill>
                  <a:srgbClr val="C00000"/>
                </a:solidFill>
              </a:rPr>
              <a:t>plyfile</a:t>
            </a:r>
            <a:r>
              <a:rPr lang="zh-CN" altLang="en-US">
                <a:solidFill>
                  <a:srgbClr val="C00000"/>
                </a:solidFill>
              </a:rPr>
              <a:t>安装文件所在的目录</a:t>
            </a:r>
            <a:endParaRPr lang="en-US" altLang="zh-CN">
              <a:solidFill>
                <a:srgbClr val="C00000"/>
              </a:solidFill>
            </a:endParaRPr>
          </a:p>
          <a:p>
            <a:endParaRPr lang="en-US" altLang="zh-CN"/>
          </a:p>
          <a:p>
            <a:r>
              <a:rPr lang="zh-CN" altLang="en-US">
                <a:solidFill>
                  <a:srgbClr val="7030A0"/>
                </a:solidFill>
              </a:rPr>
              <a:t>安装</a:t>
            </a:r>
            <a:r>
              <a:rPr lang="en-US" altLang="zh-CN">
                <a:solidFill>
                  <a:srgbClr val="7030A0"/>
                </a:solidFill>
              </a:rPr>
              <a:t>plyfile</a:t>
            </a:r>
            <a:endParaRPr lang="en-US" altLang="zh-CN">
              <a:solidFill>
                <a:srgbClr val="7030A0"/>
              </a:solidFill>
            </a:endParaRPr>
          </a:p>
          <a:p>
            <a:endParaRPr lang="en-US" altLang="zh-CN"/>
          </a:p>
          <a:p>
            <a:r>
              <a:rPr lang="zh-CN" altLang="en-US">
                <a:solidFill>
                  <a:srgbClr val="FFC000"/>
                </a:solidFill>
              </a:rPr>
              <a:t>切换到</a:t>
            </a:r>
            <a:r>
              <a:rPr lang="en-US" altLang="zh-CN">
                <a:solidFill>
                  <a:srgbClr val="FFC000"/>
                </a:solidFill>
              </a:rPr>
              <a:t>setup.py</a:t>
            </a:r>
            <a:r>
              <a:rPr lang="zh-CN" altLang="en-US">
                <a:solidFill>
                  <a:srgbClr val="FFC000"/>
                </a:solidFill>
              </a:rPr>
              <a:t>所在的目录</a:t>
            </a:r>
            <a:endParaRPr lang="en-US" altLang="zh-CN">
              <a:solidFill>
                <a:srgbClr val="FFC000"/>
              </a:solidFill>
            </a:endParaRPr>
          </a:p>
          <a:p>
            <a:endParaRPr lang="en-US" altLang="zh-CN"/>
          </a:p>
          <a:p>
            <a:r>
              <a:rPr lang="zh-CN" altLang="en-US">
                <a:solidFill>
                  <a:srgbClr val="92D050"/>
                </a:solidFill>
              </a:rPr>
              <a:t>安装</a:t>
            </a:r>
            <a:r>
              <a:rPr lang="en-US" altLang="zh-CN">
                <a:solidFill>
                  <a:srgbClr val="92D050"/>
                </a:solidFill>
              </a:rPr>
              <a:t>pointnet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/>
          </a:p>
          <a:p>
            <a:r>
              <a:rPr lang="zh-CN" altLang="en-US">
                <a:solidFill>
                  <a:srgbClr val="00B050"/>
                </a:solidFill>
              </a:rPr>
              <a:t>切换到训练脚本所在的目录</a:t>
            </a:r>
            <a:endParaRPr lang="en-US" altLang="zh-CN">
              <a:solidFill>
                <a:srgbClr val="00B050"/>
              </a:solidFill>
            </a:endParaRPr>
          </a:p>
          <a:p>
            <a:endParaRPr lang="en-US" altLang="zh-CN"/>
          </a:p>
          <a:p>
            <a:r>
              <a:rPr lang="zh-CN" altLang="en-US">
                <a:solidFill>
                  <a:srgbClr val="00B0F0"/>
                </a:solidFill>
              </a:rPr>
              <a:t>运行训练脚本</a:t>
            </a:r>
            <a:endParaRPr lang="zh-CN" altLang="en-US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60457" y="382221"/>
            <a:ext cx="2783127" cy="690591"/>
            <a:chOff x="395079" y="707936"/>
            <a:chExt cx="2783127" cy="690591"/>
          </a:xfrm>
        </p:grpSpPr>
        <p:grpSp>
          <p:nvGrpSpPr>
            <p:cNvPr id="5" name="组合 4"/>
            <p:cNvGrpSpPr/>
            <p:nvPr/>
          </p:nvGrpSpPr>
          <p:grpSpPr>
            <a:xfrm>
              <a:off x="395079" y="707936"/>
              <a:ext cx="821749" cy="690591"/>
              <a:chOff x="741453" y="1961835"/>
              <a:chExt cx="821749" cy="690591"/>
            </a:xfrm>
          </p:grpSpPr>
          <p:sp>
            <p:nvSpPr>
              <p:cNvPr id="7" name="任意多边形 40"/>
              <p:cNvSpPr/>
              <p:nvPr/>
            </p:nvSpPr>
            <p:spPr>
              <a:xfrm rot="18900000" flipH="1">
                <a:off x="1334528" y="2192795"/>
                <a:ext cx="228674" cy="228674"/>
              </a:xfrm>
              <a:custGeom>
                <a:avLst/>
                <a:gdLst>
                  <a:gd name="connsiteX0" fmla="*/ 0 w 304899"/>
                  <a:gd name="connsiteY0" fmla="*/ 0 h 304899"/>
                  <a:gd name="connsiteX1" fmla="*/ 3059 w 304899"/>
                  <a:gd name="connsiteY1" fmla="*/ 10322 h 304899"/>
                  <a:gd name="connsiteX2" fmla="*/ 119391 w 304899"/>
                  <a:gd name="connsiteY2" fmla="*/ 185508 h 304899"/>
                  <a:gd name="connsiteX3" fmla="*/ 294577 w 304899"/>
                  <a:gd name="connsiteY3" fmla="*/ 301840 h 304899"/>
                  <a:gd name="connsiteX4" fmla="*/ 304899 w 304899"/>
                  <a:gd name="connsiteY4" fmla="*/ 304899 h 304899"/>
                  <a:gd name="connsiteX5" fmla="*/ 0 w 304899"/>
                  <a:gd name="connsiteY5" fmla="*/ 304899 h 30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4899" h="304899">
                    <a:moveTo>
                      <a:pt x="0" y="0"/>
                    </a:moveTo>
                    <a:lnTo>
                      <a:pt x="3059" y="10322"/>
                    </a:lnTo>
                    <a:cubicBezTo>
                      <a:pt x="28910" y="74072"/>
                      <a:pt x="67688" y="133805"/>
                      <a:pt x="119391" y="185508"/>
                    </a:cubicBezTo>
                    <a:cubicBezTo>
                      <a:pt x="171094" y="237211"/>
                      <a:pt x="230827" y="275989"/>
                      <a:pt x="294577" y="301840"/>
                    </a:cubicBezTo>
                    <a:lnTo>
                      <a:pt x="304899" y="304899"/>
                    </a:lnTo>
                    <a:lnTo>
                      <a:pt x="0" y="304899"/>
                    </a:lnTo>
                    <a:close/>
                  </a:path>
                </a:pathLst>
              </a:cu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6" tIns="34289" rIns="68576" bIns="34289"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87"/>
              <p:cNvGrpSpPr/>
              <p:nvPr/>
            </p:nvGrpSpPr>
            <p:grpSpPr>
              <a:xfrm>
                <a:off x="741453" y="1961835"/>
                <a:ext cx="690591" cy="690591"/>
                <a:chOff x="5613944" y="2348233"/>
                <a:chExt cx="920788" cy="920788"/>
              </a:xfrm>
            </p:grpSpPr>
            <p:sp>
              <p:nvSpPr>
                <p:cNvPr id="9" name="椭圆 41"/>
                <p:cNvSpPr/>
                <p:nvPr/>
              </p:nvSpPr>
              <p:spPr>
                <a:xfrm flipH="1">
                  <a:off x="5613944" y="2348233"/>
                  <a:ext cx="920788" cy="920788"/>
                </a:xfrm>
                <a:prstGeom prst="ellipse">
                  <a:avLst/>
                </a:prstGeom>
                <a:solidFill>
                  <a:srgbClr val="7B43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0" name="组合 58"/>
                <p:cNvGrpSpPr/>
                <p:nvPr/>
              </p:nvGrpSpPr>
              <p:grpSpPr>
                <a:xfrm>
                  <a:off x="5825421" y="2449556"/>
                  <a:ext cx="497999" cy="738461"/>
                  <a:chOff x="5825420" y="2469108"/>
                  <a:chExt cx="497999" cy="738461"/>
                </a:xfrm>
              </p:grpSpPr>
              <p:sp>
                <p:nvSpPr>
                  <p:cNvPr id="11" name="TextBox 20"/>
                  <p:cNvSpPr txBox="1"/>
                  <p:nvPr/>
                </p:nvSpPr>
                <p:spPr>
                  <a:xfrm>
                    <a:off x="5825420" y="2653572"/>
                    <a:ext cx="497999" cy="5539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altLang="zh-CN" sz="2700" spc="300" dirty="0">
                        <a:solidFill>
                          <a:schemeClr val="bg1">
                            <a:lumMod val="95000"/>
                          </a:schemeClr>
                        </a:solidFill>
                        <a:latin typeface="Agency FB" panose="020B0503020202020204" pitchFamily="34" charset="0"/>
                        <a:ea typeface="微软雅黑" panose="020B0503020204020204" pitchFamily="34" charset="-122"/>
                        <a:sym typeface="+mn-ea"/>
                      </a:rPr>
                      <a:t>03</a:t>
                    </a:r>
                    <a:endParaRPr lang="zh-CN" altLang="en-US" sz="2700" dirty="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" name="TextBox 20"/>
                  <p:cNvSpPr txBox="1"/>
                  <p:nvPr/>
                </p:nvSpPr>
                <p:spPr>
                  <a:xfrm>
                    <a:off x="5914148" y="2469108"/>
                    <a:ext cx="321734" cy="22013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altLang="zh-CN" sz="11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step</a:t>
                    </a:r>
                    <a:endParaRPr lang="zh-CN" altLang="en-US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6" name="文本框 5"/>
            <p:cNvSpPr txBox="1"/>
            <p:nvPr/>
          </p:nvSpPr>
          <p:spPr>
            <a:xfrm>
              <a:off x="1323078" y="868697"/>
              <a:ext cx="1855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F0"/>
                  </a:solidFill>
                </a:rPr>
                <a:t>启动计算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685611" y="1287152"/>
            <a:ext cx="6150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开始计算：</a:t>
            </a:r>
            <a:endParaRPr lang="en-US" altLang="zh-CN" dirty="0"/>
          </a:p>
          <a:p>
            <a:r>
              <a:rPr lang="zh-CN" altLang="en-US" dirty="0"/>
              <a:t>依次点击保存、启动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52" y="2147823"/>
            <a:ext cx="6751905" cy="367315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60457" y="382221"/>
            <a:ext cx="2783127" cy="690591"/>
            <a:chOff x="395079" y="707936"/>
            <a:chExt cx="2783127" cy="690591"/>
          </a:xfrm>
        </p:grpSpPr>
        <p:grpSp>
          <p:nvGrpSpPr>
            <p:cNvPr id="5" name="组合 4"/>
            <p:cNvGrpSpPr/>
            <p:nvPr/>
          </p:nvGrpSpPr>
          <p:grpSpPr>
            <a:xfrm>
              <a:off x="395079" y="707936"/>
              <a:ext cx="821749" cy="690591"/>
              <a:chOff x="741453" y="1961835"/>
              <a:chExt cx="821749" cy="690591"/>
            </a:xfrm>
          </p:grpSpPr>
          <p:sp>
            <p:nvSpPr>
              <p:cNvPr id="7" name="任意多边形 40"/>
              <p:cNvSpPr/>
              <p:nvPr/>
            </p:nvSpPr>
            <p:spPr>
              <a:xfrm rot="18900000" flipH="1">
                <a:off x="1334528" y="2192795"/>
                <a:ext cx="228674" cy="228674"/>
              </a:xfrm>
              <a:custGeom>
                <a:avLst/>
                <a:gdLst>
                  <a:gd name="connsiteX0" fmla="*/ 0 w 304899"/>
                  <a:gd name="connsiteY0" fmla="*/ 0 h 304899"/>
                  <a:gd name="connsiteX1" fmla="*/ 3059 w 304899"/>
                  <a:gd name="connsiteY1" fmla="*/ 10322 h 304899"/>
                  <a:gd name="connsiteX2" fmla="*/ 119391 w 304899"/>
                  <a:gd name="connsiteY2" fmla="*/ 185508 h 304899"/>
                  <a:gd name="connsiteX3" fmla="*/ 294577 w 304899"/>
                  <a:gd name="connsiteY3" fmla="*/ 301840 h 304899"/>
                  <a:gd name="connsiteX4" fmla="*/ 304899 w 304899"/>
                  <a:gd name="connsiteY4" fmla="*/ 304899 h 304899"/>
                  <a:gd name="connsiteX5" fmla="*/ 0 w 304899"/>
                  <a:gd name="connsiteY5" fmla="*/ 304899 h 30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4899" h="304899">
                    <a:moveTo>
                      <a:pt x="0" y="0"/>
                    </a:moveTo>
                    <a:lnTo>
                      <a:pt x="3059" y="10322"/>
                    </a:lnTo>
                    <a:cubicBezTo>
                      <a:pt x="28910" y="74072"/>
                      <a:pt x="67688" y="133805"/>
                      <a:pt x="119391" y="185508"/>
                    </a:cubicBezTo>
                    <a:cubicBezTo>
                      <a:pt x="171094" y="237211"/>
                      <a:pt x="230827" y="275989"/>
                      <a:pt x="294577" y="301840"/>
                    </a:cubicBezTo>
                    <a:lnTo>
                      <a:pt x="304899" y="304899"/>
                    </a:lnTo>
                    <a:lnTo>
                      <a:pt x="0" y="304899"/>
                    </a:lnTo>
                    <a:close/>
                  </a:path>
                </a:pathLst>
              </a:custGeom>
              <a:solidFill>
                <a:srgbClr val="7B43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6" tIns="34289" rIns="68576" bIns="34289"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87"/>
              <p:cNvGrpSpPr/>
              <p:nvPr/>
            </p:nvGrpSpPr>
            <p:grpSpPr>
              <a:xfrm>
                <a:off x="741453" y="1961835"/>
                <a:ext cx="690591" cy="690591"/>
                <a:chOff x="5613944" y="2348233"/>
                <a:chExt cx="920788" cy="920788"/>
              </a:xfrm>
            </p:grpSpPr>
            <p:sp>
              <p:nvSpPr>
                <p:cNvPr id="9" name="椭圆 41"/>
                <p:cNvSpPr/>
                <p:nvPr/>
              </p:nvSpPr>
              <p:spPr>
                <a:xfrm flipH="1">
                  <a:off x="5613944" y="2348233"/>
                  <a:ext cx="920788" cy="920788"/>
                </a:xfrm>
                <a:prstGeom prst="ellipse">
                  <a:avLst/>
                </a:prstGeom>
                <a:solidFill>
                  <a:srgbClr val="7B43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0" name="组合 58"/>
                <p:cNvGrpSpPr/>
                <p:nvPr/>
              </p:nvGrpSpPr>
              <p:grpSpPr>
                <a:xfrm>
                  <a:off x="5833970" y="2449556"/>
                  <a:ext cx="480900" cy="738461"/>
                  <a:chOff x="5833969" y="2469108"/>
                  <a:chExt cx="480900" cy="738461"/>
                </a:xfrm>
              </p:grpSpPr>
              <p:sp>
                <p:nvSpPr>
                  <p:cNvPr id="11" name="TextBox 20"/>
                  <p:cNvSpPr txBox="1"/>
                  <p:nvPr/>
                </p:nvSpPr>
                <p:spPr>
                  <a:xfrm>
                    <a:off x="5833969" y="2653572"/>
                    <a:ext cx="480900" cy="5539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altLang="zh-CN" sz="2700" spc="300" dirty="0">
                        <a:solidFill>
                          <a:schemeClr val="bg1">
                            <a:lumMod val="95000"/>
                          </a:schemeClr>
                        </a:solidFill>
                        <a:latin typeface="Agency FB" panose="020B0503020202020204" pitchFamily="34" charset="0"/>
                        <a:ea typeface="微软雅黑" panose="020B0503020204020204" pitchFamily="34" charset="-122"/>
                        <a:sym typeface="+mn-ea"/>
                      </a:rPr>
                      <a:t>04</a:t>
                    </a:r>
                    <a:endParaRPr lang="zh-CN" altLang="en-US" sz="2700" dirty="0">
                      <a:solidFill>
                        <a:schemeClr val="bg1">
                          <a:lumMod val="95000"/>
                        </a:schemeClr>
                      </a:solidFill>
                      <a:latin typeface="Agency FB" panose="020B0503020202020204" pitchFamily="34" charset="0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2" name="TextBox 20"/>
                  <p:cNvSpPr txBox="1"/>
                  <p:nvPr/>
                </p:nvSpPr>
                <p:spPr>
                  <a:xfrm>
                    <a:off x="5914148" y="2469108"/>
                    <a:ext cx="321734" cy="22013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altLang="zh-CN" sz="11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step</a:t>
                    </a:r>
                    <a:endParaRPr lang="zh-CN" altLang="en-US" sz="1100" dirty="0">
                      <a:solidFill>
                        <a:schemeClr val="bg1">
                          <a:lumMod val="9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6" name="文本框 5"/>
            <p:cNvSpPr txBox="1"/>
            <p:nvPr/>
          </p:nvSpPr>
          <p:spPr>
            <a:xfrm>
              <a:off x="1323078" y="868697"/>
              <a:ext cx="1855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F0"/>
                  </a:solidFill>
                </a:rPr>
                <a:t>查看日志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685611" y="1287152"/>
            <a:ext cx="6150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查看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控制台输出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点击“日志”</a:t>
            </a:r>
            <a:r>
              <a:rPr lang="en-US" altLang="zh-CN" dirty="0"/>
              <a:t>——</a:t>
            </a:r>
            <a:r>
              <a:rPr lang="zh-CN" altLang="en-US" dirty="0"/>
              <a:t>“控制台日志”</a:t>
            </a:r>
            <a:endParaRPr lang="en-US" altLang="zh-CN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472" y="2987051"/>
            <a:ext cx="5205051" cy="265539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194" y="1364514"/>
            <a:ext cx="5827334" cy="4277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3533</Words>
  <Application>WPS 文字</Application>
  <PresentationFormat>宽屏</PresentationFormat>
  <Paragraphs>244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7" baseType="lpstr">
      <vt:lpstr>Arial</vt:lpstr>
      <vt:lpstr>宋体</vt:lpstr>
      <vt:lpstr>Wingdings</vt:lpstr>
      <vt:lpstr>华文中宋</vt:lpstr>
      <vt:lpstr>汉仪书宋二KW</vt:lpstr>
      <vt:lpstr>华文仿宋</vt:lpstr>
      <vt:lpstr>等线</vt:lpstr>
      <vt:lpstr>汉仪中等线KW</vt:lpstr>
      <vt:lpstr>微软雅黑</vt:lpstr>
      <vt:lpstr>汉仪旗黑</vt:lpstr>
      <vt:lpstr>Agency FB</vt:lpstr>
      <vt:lpstr>苹方-简</vt:lpstr>
      <vt:lpstr>Corbel Light</vt:lpstr>
      <vt:lpstr>宋体</vt:lpstr>
      <vt:lpstr>Arial Unicode MS</vt:lpstr>
      <vt:lpstr>等线 Light</vt:lpstr>
      <vt:lpstr>Calibri Light</vt:lpstr>
      <vt:lpstr>Calibri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cheng x</dc:creator>
  <cp:lastModifiedBy>JennieYang</cp:lastModifiedBy>
  <cp:revision>180</cp:revision>
  <dcterms:created xsi:type="dcterms:W3CDTF">2025-10-21T01:42:15Z</dcterms:created>
  <dcterms:modified xsi:type="dcterms:W3CDTF">2025-10-21T01:42:15Z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6B2D75F7682D3808F7E4F668125E970E_43</vt:lpwstr>
  </property>
  <property fmtid="{D5CDD505-2E9C-101B-9397-08002B2CF9AE}" pid="3" name="KSOProductBuildVer">
    <vt:lpwstr>2052-6.2.2.8394</vt:lpwstr>
  </property>
</Properties>
</file>